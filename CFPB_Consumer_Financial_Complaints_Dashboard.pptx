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  <p:sldId id="258" r:id="RelId1"/>
    <p:sldId id="259" r:id="Rel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Relationship Type="http://schemas.openxmlformats.org/officeDocument/2006/relationships/slide" Target="/ppt/slides/slide3.xml" Id="RelId1" /><Relationship Type="http://schemas.openxmlformats.org/officeDocument/2006/relationships/slide" Target="/ppt/slides/slide4.xml" Id="RelId2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PBI_CV_7B952816_A48F_49B4_9E13_15E3BB2C0337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PBI_CV_7B952816_A48F_49B4_9E13_15E3BB2C0337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PBI_CV_7B952816_A48F_49B4_9E13_15E3BB2C0337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PBI_CV_7B952816_A48F_49B4_9E13_15E3BB2C0337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Complaints by Financial Product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Complaints Trend by Year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Top Companies by Complaint Volume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PBI_CV_7B952816_A48F_49B4_9E13_15E3BB2C0337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Complaints by Financial Sub-Product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Product vs Issue Breakdown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Most Reported Consumer Issues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Complaints by Financial Product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PBI_CV_7B952816_A48F_49B4_9E13_15E3BB2C0337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PBI_CV_7B952816_A48F_49B4_9E13_15E3BB2C0337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columnChart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Disputed vs Non-Disputed Complaints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Company Response vs Consumer Disputes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columnChart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57d090cb-8cc8-46e3-9cf6-d0b234f15436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cf6e867f123b472a" /><Relationship Type="http://schemas.openxmlformats.org/officeDocument/2006/relationships/slideLayout" Target="/ppt/slideLayouts/slideLayout8.xml" Id="R3d36ba50fdc8442a" /><Relationship Type="http://schemas.openxmlformats.org/officeDocument/2006/relationships/hyperlink" Target="https://app.powerbi.com/groups/me/reports/57d090cb-8cc8-46e3-9cf6-d0b234f15436/?pbi_source=PowerPoint" TargetMode="External" Id="RelId0" /><Relationship Type="http://schemas.openxmlformats.org/officeDocument/2006/relationships/image" Target="/ppt/media/image4.png" Id="imgId1342215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07960e46965547dc" /><Relationship Type="http://schemas.openxmlformats.org/officeDocument/2006/relationships/slideLayout" Target="/ppt/slideLayouts/slideLayout8.xml" Id="Rd81c9ffbb87248b7" /><Relationship Type="http://schemas.openxmlformats.org/officeDocument/2006/relationships/hyperlink" Target="https://app.powerbi.com/groups/me/reports/57d090cb-8cc8-46e3-9cf6-d0b234f15436/?pbi_source=PowerPoint" TargetMode="External" Id="RelId1" /><Relationship Type="http://schemas.openxmlformats.org/officeDocument/2006/relationships/image" Target="/ppt/media/image5.png" Id="imgId1342215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notesSlide" Target="/ppt/notesSlides/notesSlide3.xml" Id="R87fe837754a94a06" /><Relationship Type="http://schemas.openxmlformats.org/officeDocument/2006/relationships/slideLayout" Target="/ppt/slideLayouts/slideLayout8.xml" Id="Rdab3ccaa314a4788" /><Relationship Type="http://schemas.openxmlformats.org/officeDocument/2006/relationships/hyperlink" Target="https://app.powerbi.com/groups/me/reports/57d090cb-8cc8-46e3-9cf6-d0b234f15436/?pbi_source=PowerPoint" TargetMode="External" Id="RelId2" /><Relationship Type="http://schemas.openxmlformats.org/officeDocument/2006/relationships/image" Target="/ppt/media/image6.png" Id="imgId134221582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CFPB_Consumer_Financial_Complaints_Dashboard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3/11/2026 12:46:07 PM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3/11/2026 12:44:02 PM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image ,textbox ,PBI_CV_7B952816_A48F_49B4_9E13_15E3BB2C0337 ,PBI_CV_7B952816_A48F_49B4_9E13_15E3BB2C0337 ,PBI_CV_7B952816_A48F_49B4_9E13_15E3BB2C0337 ,PBI_CV_7B952816_A48F_49B4_9E13_15E3BB2C0337 ,Complaints by Financial Product ,Complaints Trend by Year ,Top Companies by Complaint Volume ,PBI_CV_7B952816_A48F_49B4_9E13_15E3BB2C0337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3422158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Complaint Overview</a:t>
            </a:r>
          </a:p>
        </p:txBody>
      </p:sp>
    </p:spTree>
    <p:clrMapOvr>
      <a:masterClrMapping xmlns:a="http://schemas.openxmlformats.org/drawingml/2006/main"/>
    </p:clrMapOvr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image ,textbox ,Complaints by Financial Sub-Product ,Product vs Issue Breakdown ,Most Reported Consumer Issues ,Complaints by Financial Product. Please refer to the notes on this slide for details">
            <a:hlinkClick xmlns:r="http://schemas.openxmlformats.org/officeDocument/2006/relationships" xmlns:a="http://schemas.openxmlformats.org/drawingml/2006/main" r:id="RelId1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3422158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Complaint Issue Analysis</a:t>
            </a:r>
          </a:p>
        </p:txBody>
      </p:sp>
    </p:spTree>
    <p:clrMapOvr>
      <a:masterClrMapping xmlns:a="http://schemas.openxmlformats.org/drawingml/2006/main"/>
    </p:clrMapOvr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image ,textbox ,PBI_CV_7B952816_A48F_49B4_9E13_15E3BB2C0337 ,PBI_CV_7B952816_A48F_49B4_9E13_15E3BB2C0337 ,columnChart ,Disputed vs Non-Disputed Complaints ,Company Response vs Consumer Disputes ,columnChart. Please refer to the notes on this slide for details">
            <a:hlinkClick xmlns:r="http://schemas.openxmlformats.org/officeDocument/2006/relationships" xmlns:a="http://schemas.openxmlformats.org/drawingml/2006/main" r:id="RelId2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3422158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76275" y="0"/>
            <a:ext cx="10829925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Dispute &amp; Resolution Analysis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